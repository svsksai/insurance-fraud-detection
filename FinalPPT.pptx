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7" r:id="rId21"/>
    <p:sldId id="278" r:id="rId22"/>
    <p:sldId id="279" r:id="rId23"/>
    <p:sldId id="280" r:id="rId24"/>
    <p:sldId id="281" r:id="rId25"/>
    <p:sldId id="275" r:id="rId26"/>
    <p:sldId id="27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45851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547093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3242006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B77C66-D6B9-4B98-B664-3F192878CE98}" type="datetimeFigureOut">
              <a:rPr lang="en-IN" smtClean="0"/>
              <a:t>28-10-2024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92483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B77C66-D6B9-4B98-B664-3F192878CE98}" type="datetimeFigureOut">
              <a:rPr lang="en-IN" smtClean="0"/>
              <a:t>28-10-2024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2429641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B77C66-D6B9-4B98-B664-3F192878CE98}" type="datetimeFigureOut">
              <a:rPr lang="en-IN" smtClean="0"/>
              <a:t>28-10-2024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928842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77C66-D6B9-4B98-B664-3F192878CE98}" type="datetimeFigureOut">
              <a:rPr lang="en-IN" smtClean="0"/>
              <a:t>28-10-2024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789674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B77C66-D6B9-4B98-B664-3F192878CE98}" type="datetimeFigureOut">
              <a:rPr lang="en-IN" smtClean="0"/>
              <a:t>28-10-2024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3668867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B77C66-D6B9-4B98-B664-3F192878CE98}" type="datetimeFigureOut">
              <a:rPr lang="en-IN" smtClean="0"/>
              <a:t>28-10-2024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1757912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299653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387481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1042977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91249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31119879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32790681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B77C66-D6B9-4B98-B664-3F192878CE98}" type="datetimeFigureOut">
              <a:rPr lang="en-IN" smtClean="0"/>
              <a:t>28-10-2024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F954E25-DE23-4BA8-BD8D-471C84782D44}" type="slidenum">
              <a:rPr lang="en-IN" smtClean="0"/>
              <a:t>‹#›</a:t>
            </a:fld>
            <a:endParaRPr lang="en-IN"/>
          </a:p>
        </p:txBody>
      </p:sp>
    </p:spTree>
    <p:extLst>
      <p:ext uri="{BB962C8B-B14F-4D97-AF65-F5344CB8AC3E}">
        <p14:creationId xmlns:p14="http://schemas.microsoft.com/office/powerpoint/2010/main" val="1343139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2B77C66-D6B9-4B98-B664-3F192878CE98}" type="datetimeFigureOut">
              <a:rPr lang="en-IN" smtClean="0"/>
              <a:t>28-10-2024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F954E25-DE23-4BA8-BD8D-471C84782D44}" type="slidenum">
              <a:rPr lang="en-IN" smtClean="0"/>
              <a:t>‹#›</a:t>
            </a:fld>
            <a:endParaRPr lang="en-IN"/>
          </a:p>
        </p:txBody>
      </p:sp>
    </p:spTree>
    <p:extLst>
      <p:ext uri="{BB962C8B-B14F-4D97-AF65-F5344CB8AC3E}">
        <p14:creationId xmlns:p14="http://schemas.microsoft.com/office/powerpoint/2010/main" val="28637246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covariance-matri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ijitee.org/wpcontent/uploads/papers/v8i6s%204/F11180486S419.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97041-7EE4-4014-BC05-D1E7056B97E1}"/>
              </a:ext>
            </a:extLst>
          </p:cNvPr>
          <p:cNvSpPr>
            <a:spLocks noGrp="1"/>
          </p:cNvSpPr>
          <p:nvPr>
            <p:ph type="ctrTitle"/>
          </p:nvPr>
        </p:nvSpPr>
        <p:spPr/>
        <p: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PCA based feature selection model to predict the insurance fraud detection</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E93B7C3D-CEB1-43B7-9C6E-D72064DCDDF8}"/>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269585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FFE9A-3A85-4684-A0AE-976F7F9502B4}"/>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2079A200-3606-41D4-92CC-9E1646317915}"/>
              </a:ext>
            </a:extLst>
          </p:cNvPr>
          <p:cNvSpPr>
            <a:spLocks noGrp="1"/>
          </p:cNvSpPr>
          <p:nvPr>
            <p:ph idx="1"/>
          </p:nvPr>
        </p:nvSpPr>
        <p:spPr>
          <a:xfrm>
            <a:off x="677334" y="1314451"/>
            <a:ext cx="8596668" cy="4726912"/>
          </a:xfrm>
        </p:spPr>
        <p:txBody>
          <a:bodyPr>
            <a:normAutofit/>
          </a:bodyPr>
          <a:lstStyle/>
          <a:p>
            <a:pPr algn="just"/>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ultimate focus of the insurance agency is the management of financial risks, since it includes a sizable amount of daily transactions. It is mandatory for the insurance industry to develop the capability of identifying the fraudulent activities with increased accuracy in order to minimize the excessive unwarranted loss due to claim leakage. Initially, many fraud detecting techniques has been introduced and it relies on the heuristics around fraud indicators, also on the checklist prepared about frauds. However, the above mentioned traditional techniques highly relies on the manual intervention. Therefore, for eliminating the above mentioned issues, the insurance companies are looking towards machine learning based fraud detection techniques. In this project, initially a block chain technique is presented as a secure network by the insurance agencies to detect, store and share different customer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informations</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Then, a PCA based feature selection model PC-RFC algorithm is used for classifying the insurance frauds. Additionally, to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analyse</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working of the proposed work, it is implemented in Python software.</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21385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4A5E2-5543-4B28-B079-2B0946E8FBD1}"/>
              </a:ext>
            </a:extLst>
          </p:cNvPr>
          <p:cNvSpPr>
            <a:spLocks noGrp="1"/>
          </p:cNvSpPr>
          <p:nvPr>
            <p:ph type="title"/>
          </p:nvPr>
        </p:nvSpPr>
        <p:spPr/>
        <p:txBody>
          <a:bodyPr/>
          <a:lstStyle/>
          <a:p>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Proposed System:</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9B6556E-9157-4E79-965C-5DE8B9B6BBF3}"/>
              </a:ext>
            </a:extLst>
          </p:cNvPr>
          <p:cNvSpPr>
            <a:spLocks noGrp="1"/>
          </p:cNvSpPr>
          <p:nvPr>
            <p:ph idx="1"/>
          </p:nvPr>
        </p:nvSpPr>
        <p:spPr/>
        <p:txBody>
          <a:bodyPr/>
          <a:lstStyle/>
          <a:p>
            <a:pPr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successfully create a model that uses ML Algorithms that ultimately aid in detecting fraud insurance claims effectively and efficiently and help the insurance industries. Globally, there are over a thousand companies in the insurance market, and they gather premiums of over one trillion dollars annually. The most common insurance fraud is fabricating accident claims, which may be done with a vehicle. Utilizing machine learning techniques, this research aims to detect car insurance fraud.</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3057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74099-92AC-4232-BB65-585EDFA90DBF}"/>
              </a:ext>
            </a:extLst>
          </p:cNvPr>
          <p:cNvSpPr>
            <a:spLocks noGrp="1"/>
          </p:cNvSpPr>
          <p:nvPr>
            <p:ph type="title"/>
          </p:nvPr>
        </p:nvSpPr>
        <p:spPr/>
        <p: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Implementation:</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C25D731-BFF2-471D-9D41-A375CDA90BE2}"/>
              </a:ext>
            </a:extLst>
          </p:cNvPr>
          <p:cNvSpPr>
            <a:spLocks noGrp="1"/>
          </p:cNvSpPr>
          <p:nvPr>
            <p:ph idx="1"/>
          </p:nvPr>
        </p:nvSpPr>
        <p:spPr/>
        <p:txBody>
          <a:bodyPr/>
          <a:lstStyle/>
          <a:p>
            <a:r>
              <a:rPr lang="en-US" sz="1800" dirty="0">
                <a:effectLst/>
                <a:latin typeface="Times New Roman" panose="02020603050405020304" pitchFamily="18" charset="0"/>
                <a:ea typeface="Times New Roman" panose="02020603050405020304" pitchFamily="18" charset="0"/>
              </a:rPr>
              <a:t>Data collection</a:t>
            </a:r>
          </a:p>
          <a:p>
            <a:r>
              <a:rPr lang="en-US" sz="1800" dirty="0">
                <a:effectLst/>
                <a:latin typeface="Times New Roman" panose="02020603050405020304" pitchFamily="18" charset="0"/>
                <a:ea typeface="Times New Roman" panose="02020603050405020304" pitchFamily="18" charset="0"/>
              </a:rPr>
              <a:t>Data Preprocessing</a:t>
            </a:r>
            <a:endParaRPr lang="en-US" dirty="0">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Data cleaning</a:t>
            </a:r>
          </a:p>
          <a:p>
            <a:r>
              <a:rPr lang="en-US" sz="1800" dirty="0">
                <a:effectLst/>
                <a:latin typeface="Times New Roman" panose="02020603050405020304" pitchFamily="18" charset="0"/>
                <a:ea typeface="Times New Roman" panose="02020603050405020304" pitchFamily="18" charset="0"/>
              </a:rPr>
              <a:t>Oversampling</a:t>
            </a:r>
            <a:endParaRPr lang="en-US" dirty="0">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Data Analysis</a:t>
            </a:r>
            <a:endParaRPr lang="en-IN" dirty="0"/>
          </a:p>
        </p:txBody>
      </p:sp>
    </p:spTree>
    <p:extLst>
      <p:ext uri="{BB962C8B-B14F-4D97-AF65-F5344CB8AC3E}">
        <p14:creationId xmlns:p14="http://schemas.microsoft.com/office/powerpoint/2010/main" val="1224698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BC1C16-73B2-4D9C-BF6B-ED6811A6E12A}"/>
              </a:ext>
            </a:extLst>
          </p:cNvPr>
          <p:cNvSpPr>
            <a:spLocks noGrp="1"/>
          </p:cNvSpPr>
          <p:nvPr>
            <p:ph idx="1"/>
          </p:nvPr>
        </p:nvSpPr>
        <p:spPr>
          <a:xfrm>
            <a:off x="677334" y="600075"/>
            <a:ext cx="8596668" cy="5441287"/>
          </a:xfrm>
        </p:spPr>
        <p:txBody>
          <a:bodyPr>
            <a:normAutofit fontScale="92500" lnSpcReduction="10000"/>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collection: Gathering data from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publically</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available sources for training a machine learning model is the initial stage in a machine learning pipeline. Data collection involves gathering information from diverse sources to address pertinent questions. The accuracy of the predictions generated by a model is inherently tied to the quality of the data used for its training. Challenges during data collection include unreliable data, missing data, and data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imbalance.To</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mitigate these problems, data preprocessing is conducted on the collected data.</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Preprocessing: Because they are fragmentary, inconsistent, and devoid of specific behavioral patterns, raw data from the real world are probably not dependable. Thus, pre-processing is done after data collection to clean up the data and prepare it for machine-learning model construction.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cleaning: Erroneously added or classified data can be removed manually or automatically. Imputation of data: Standard deviation, mean, and median are three common methods most machine-learning systems use to balance or fill in missing values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06506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F7B9F3-424E-439C-A006-E4FCBD13F72F}"/>
              </a:ext>
            </a:extLst>
          </p:cNvPr>
          <p:cNvSpPr>
            <a:spLocks noGrp="1"/>
          </p:cNvSpPr>
          <p:nvPr>
            <p:ph idx="1"/>
          </p:nvPr>
        </p:nvSpPr>
        <p:spPr>
          <a:xfrm>
            <a:off x="677334" y="428625"/>
            <a:ext cx="8596668" cy="5612737"/>
          </a:xfrm>
        </p:spPr>
        <p:txBody>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Oversampling: Biased or unbalanced datasets can be added to the underrepresented classes after being corrected using strategies like oversampling and repetition. Exploratory</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Data Analysis: Exploratory Data Analysis, abbreviated as EDA, fundamentally serves as a form of storytelling that enables the revelation of concealed insights and patterns, the identification of outliers and anomalies, and the validation of underlying structures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2715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9FAB11-E334-48A9-97DF-807C5363CFCF}"/>
              </a:ext>
            </a:extLst>
          </p:cNvPr>
          <p:cNvSpPr>
            <a:spLocks noGrp="1"/>
          </p:cNvSpPr>
          <p:nvPr>
            <p:ph idx="1"/>
          </p:nvPr>
        </p:nvSpPr>
        <p:spPr>
          <a:xfrm>
            <a:off x="677334" y="271463"/>
            <a:ext cx="8596668" cy="5769899"/>
          </a:xfrm>
        </p:spPr>
        <p:txBody>
          <a:bodyPr>
            <a:normAutofit fontScale="62500" lnSpcReduction="20000"/>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 In the initial step, we import the packages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2. Upload the CSV file (data sets)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3. We can use functions like describe and info functions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tothe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dataset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4. Data pre-processing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Missing values (visualizing the missing values) ii. Handling missing values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5. Displaying correlation between features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6. Dropping the columns which are not necessary for prediction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7. Masking Multicollinearity </a:t>
            </a: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8. Separating the feature and target columns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9. Encoding Categorical columns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indent="457200" algn="just">
              <a:lnSpc>
                <a:spcPct val="115000"/>
              </a:lnSpc>
              <a:spcAft>
                <a:spcPts val="1000"/>
              </a:spcAft>
            </a:pPr>
            <a:r>
              <a:rPr lang="en-US" sz="1800" dirty="0">
                <a:effectLst/>
                <a:latin typeface="MS Gothic" panose="020B0609070205080204" pitchFamily="49" charset="-128"/>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Extracting categorical columns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indent="457200" algn="just">
              <a:lnSpc>
                <a:spcPct val="115000"/>
              </a:lnSpc>
              <a:spcAft>
                <a:spcPts val="1000"/>
              </a:spcAft>
            </a:pPr>
            <a:r>
              <a:rPr lang="en-US" sz="1800" dirty="0">
                <a:effectLst/>
                <a:latin typeface="MS Gothic" panose="020B0609070205080204" pitchFamily="49" charset="-128"/>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Drop Dummies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indent="457200" algn="just">
              <a:lnSpc>
                <a:spcPct val="115000"/>
              </a:lnSpc>
              <a:spcAft>
                <a:spcPts val="1000"/>
              </a:spcAft>
            </a:pPr>
            <a:r>
              <a:rPr lang="en-US" sz="1800" dirty="0">
                <a:effectLst/>
                <a:latin typeface="MS Gothic" panose="020B0609070205080204" pitchFamily="49" charset="-128"/>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Extracting the numerical columns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indent="457200" algn="just">
              <a:lnSpc>
                <a:spcPct val="115000"/>
              </a:lnSpc>
              <a:spcAft>
                <a:spcPts val="1000"/>
              </a:spcAft>
            </a:pPr>
            <a:r>
              <a:rPr lang="en-US" sz="1800" dirty="0">
                <a:effectLst/>
                <a:latin typeface="MS Gothic" panose="020B0609070205080204" pitchFamily="49" charset="-128"/>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Combining the Numerical and Categorical data frames to get the final dataset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10. Outliers Detection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585559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301BC8-32DC-414D-AD90-D659B91BAC74}"/>
              </a:ext>
            </a:extLst>
          </p:cNvPr>
          <p:cNvSpPr>
            <a:spLocks noGrp="1"/>
          </p:cNvSpPr>
          <p:nvPr>
            <p:ph idx="1"/>
          </p:nvPr>
        </p:nvSpPr>
        <p:spPr/>
        <p:txBody>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11. Splitting data into training sets and test sets.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12. Scaling the numeric values in the dataset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13. Models creation and training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14. Model Performance Comparison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62018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0AF8-0A6B-4271-AD87-1EE7FC06DF52}"/>
              </a:ext>
            </a:extLst>
          </p:cNvPr>
          <p:cNvSpPr>
            <a:spLocks noGrp="1"/>
          </p:cNvSpPr>
          <p:nvPr>
            <p:ph type="title"/>
          </p:nvPr>
        </p:nvSpPr>
        <p:spPr/>
        <p:txBody>
          <a:bodyPr/>
          <a:lstStyle/>
          <a:p>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Literature Survey:</a:t>
            </a:r>
            <a:br>
              <a:rPr lang="en-IN"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75BCA6EB-4300-46FE-B951-BA0B173ADDF2}"/>
              </a:ext>
            </a:extLst>
          </p:cNvPr>
          <p:cNvSpPr>
            <a:spLocks noGrp="1"/>
          </p:cNvSpPr>
          <p:nvPr>
            <p:ph idx="1"/>
          </p:nvPr>
        </p:nvSpPr>
        <p:spPr/>
        <p:txBody>
          <a:bodyPr>
            <a:normAutofit fontScale="92500"/>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Rama Devi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Burri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et all [1] presented several machine learning techniques to analysis insurance claims efficiently. They also mentioned three ways to transform machine learning techniques into insurance industry. Additionally they specified different resistances for adapting machine learning to classify claims and challenges in implementing machine learning. Also they evaluated the performance of different algorithms for claim predictions.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Pinak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Patel et all [2] proposed a fraud detection framework for health care industry. They classified the fraudulent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behaviour</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in two categories period based claim anomalies and disease based anomalies. Their framework was evaluated on real world medical data which showed efficient results to determine fraud claims.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57758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FB255-A9B4-4596-9339-F0D4636A27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7EDA1F9-788D-4A90-8440-8ECF1FEF0199}"/>
              </a:ext>
            </a:extLst>
          </p:cNvPr>
          <p:cNvSpPr>
            <a:spLocks noGrp="1"/>
          </p:cNvSpPr>
          <p:nvPr>
            <p:ph idx="1"/>
          </p:nvPr>
        </p:nvSpPr>
        <p:spPr/>
        <p:txBody>
          <a:bodyPr>
            <a:normAutofit fontScale="92500" lnSpcReduction="10000"/>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Sunita Mall et all [3] proposed a study to identify important triggers of fraud and to predict the fraudulent behavior of customers using those identified triggers. They used statistical techniques to identify and predict the triggers.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Najmeddine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Dhieb</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et all [4] evaluated the performance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algorithm for detecting and classifying different types of auto insurance fraud claims. They compared the proposed algorithm with other state-of-the-art solutions. Also they evaluated the algorithms for several metrics by applying data analysis and exploration techniques.</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Shimin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LEI et all [5] presented an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based system for financial fraud detection. They divided system into two parts as automatic part and manual part. The automatic part used large database to train model and manual part is used to monitor the transactions. Then for making final decision they combined machine scoring and manual feedback</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229332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6C967-FE40-49C1-B356-8C2A48AE9FE7}"/>
              </a:ext>
            </a:extLst>
          </p:cNvPr>
          <p:cNvSpPr>
            <a:spLocks noGrp="1"/>
          </p:cNvSpPr>
          <p:nvPr>
            <p:ph type="title"/>
          </p:nvPr>
        </p:nvSpPr>
        <p:spPr/>
        <p:txBody>
          <a:bodyPr/>
          <a:lstStyle/>
          <a:p>
            <a:r>
              <a:rPr lang="en-US" sz="3600" dirty="0">
                <a:effectLst/>
                <a:latin typeface="Times New Roman" panose="02020603050405020304" pitchFamily="18" charset="0"/>
                <a:ea typeface="Times New Roman" panose="02020603050405020304" pitchFamily="18" charset="0"/>
                <a:cs typeface="Times New Roman" panose="02020603050405020304" pitchFamily="18" charset="0"/>
              </a:rPr>
              <a:t>Requirements</a:t>
            </a:r>
            <a:endParaRPr lang="en-IN" dirty="0"/>
          </a:p>
        </p:txBody>
      </p:sp>
      <p:sp>
        <p:nvSpPr>
          <p:cNvPr id="3" name="Content Placeholder 2">
            <a:extLst>
              <a:ext uri="{FF2B5EF4-FFF2-40B4-BE49-F238E27FC236}">
                <a16:creationId xmlns:a16="http://schemas.microsoft.com/office/drawing/2014/main" id="{C080C994-B2BC-4B93-8518-A000E65B1437}"/>
              </a:ext>
            </a:extLst>
          </p:cNvPr>
          <p:cNvSpPr>
            <a:spLocks noGrp="1"/>
          </p:cNvSpPr>
          <p:nvPr>
            <p:ph idx="1"/>
          </p:nvPr>
        </p:nvSpPr>
        <p:spPr/>
        <p:txBody>
          <a:bodyPr/>
          <a:lstStyle/>
          <a:p>
            <a:pPr marL="342900" lvl="0" indent="-342900" algn="just">
              <a:lnSpc>
                <a:spcPct val="150000"/>
              </a:lnSpc>
              <a:spcAft>
                <a:spcPts val="10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Operating system : Windows 10/11.</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50000"/>
              </a:lnSpc>
              <a:spcAft>
                <a:spcPts val="1000"/>
              </a:spcAft>
              <a:buSzPts val="1000"/>
              <a:buFont typeface="Symbol" panose="05050102010706020507" pitchFamily="18" charset="2"/>
              <a:buChar char=""/>
              <a:tabLst>
                <a:tab pos="457200" algn="l"/>
              </a:tabLst>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Coding Language : Python.</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682329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B7A1B-D946-40EC-8E44-14A1D45BB911}"/>
              </a:ext>
            </a:extLst>
          </p:cNvPr>
          <p:cNvSpPr>
            <a:spLocks noGrp="1"/>
          </p:cNvSpPr>
          <p:nvPr>
            <p:ph type="title"/>
          </p:nvPr>
        </p:nvSpPr>
        <p:spPr/>
        <p:txBody>
          <a:bodyPr/>
          <a:lstStyle/>
          <a:p>
            <a:r>
              <a:rPr lang="en-US" dirty="0"/>
              <a:t>PCA</a:t>
            </a:r>
            <a:endParaRPr lang="en-IN" dirty="0"/>
          </a:p>
        </p:txBody>
      </p:sp>
      <p:sp>
        <p:nvSpPr>
          <p:cNvPr id="3" name="Content Placeholder 2">
            <a:extLst>
              <a:ext uri="{FF2B5EF4-FFF2-40B4-BE49-F238E27FC236}">
                <a16:creationId xmlns:a16="http://schemas.microsoft.com/office/drawing/2014/main" id="{40788510-C518-4991-8A6C-65547AE560D2}"/>
              </a:ext>
            </a:extLst>
          </p:cNvPr>
          <p:cNvSpPr>
            <a:spLocks noGrp="1"/>
          </p:cNvSpPr>
          <p:nvPr>
            <p:ph idx="1"/>
          </p:nvPr>
        </p:nvSpPr>
        <p:spPr/>
        <p:txBody>
          <a:bodyPr/>
          <a:lstStyle/>
          <a:p>
            <a:r>
              <a:rPr lang="en-US" b="0" i="0" dirty="0">
                <a:solidFill>
                  <a:srgbClr val="273239"/>
                </a:solidFill>
                <a:effectLst/>
                <a:latin typeface="Nunito"/>
              </a:rPr>
              <a:t>The main guiding principle for</a:t>
            </a:r>
            <a:r>
              <a:rPr lang="en-US" b="1" i="0" dirty="0">
                <a:solidFill>
                  <a:srgbClr val="273239"/>
                </a:solidFill>
                <a:effectLst/>
                <a:latin typeface="Nunito"/>
              </a:rPr>
              <a:t> Principal Component Analysis</a:t>
            </a:r>
            <a:r>
              <a:rPr lang="en-US" b="0" i="0" dirty="0">
                <a:solidFill>
                  <a:srgbClr val="273239"/>
                </a:solidFill>
                <a:effectLst/>
                <a:latin typeface="Nunito"/>
              </a:rPr>
              <a:t> is FEATURE EXTRACTION i.e. “Features of a data set should be less as well as the similarity between each other is very less.” In PCA, a new set of features are extracted from the original features which are quite dissimilar in nature.  So, an </a:t>
            </a:r>
            <a:r>
              <a:rPr lang="en-US" b="1" i="0" dirty="0">
                <a:solidFill>
                  <a:srgbClr val="273239"/>
                </a:solidFill>
                <a:effectLst/>
                <a:latin typeface="Nunito"/>
              </a:rPr>
              <a:t>n-dimensional feature space</a:t>
            </a:r>
            <a:r>
              <a:rPr lang="en-US" b="0" i="0" dirty="0">
                <a:solidFill>
                  <a:srgbClr val="273239"/>
                </a:solidFill>
                <a:effectLst/>
                <a:latin typeface="Nunito"/>
              </a:rPr>
              <a:t> gets transformed into an </a:t>
            </a:r>
            <a:r>
              <a:rPr lang="en-US" b="1" i="0" dirty="0">
                <a:solidFill>
                  <a:srgbClr val="273239"/>
                </a:solidFill>
                <a:effectLst/>
                <a:latin typeface="Nunito"/>
              </a:rPr>
              <a:t>m-dimensional feature space.</a:t>
            </a:r>
            <a:r>
              <a:rPr lang="en-US" b="0" i="0" dirty="0">
                <a:solidFill>
                  <a:srgbClr val="273239"/>
                </a:solidFill>
                <a:effectLst/>
                <a:latin typeface="Nunito"/>
              </a:rPr>
              <a:t>, where the dimensions are orthogonal to each other. </a:t>
            </a:r>
          </a:p>
          <a:p>
            <a:r>
              <a:rPr lang="en-US" b="1" i="0" dirty="0">
                <a:solidFill>
                  <a:srgbClr val="273239"/>
                </a:solidFill>
                <a:effectLst/>
                <a:latin typeface="Nunito"/>
              </a:rPr>
              <a:t>Concept of Orthogonality: </a:t>
            </a:r>
            <a:r>
              <a:rPr lang="en-US" b="0" i="0" dirty="0">
                <a:solidFill>
                  <a:srgbClr val="273239"/>
                </a:solidFill>
                <a:effectLst/>
                <a:latin typeface="Nunito"/>
              </a:rPr>
              <a:t>(In order to understand this topic, we have to go to the vector space concept in linear algebra) </a:t>
            </a:r>
            <a:r>
              <a:rPr lang="en-US" b="1" i="0" dirty="0">
                <a:solidFill>
                  <a:srgbClr val="273239"/>
                </a:solidFill>
                <a:effectLst/>
                <a:latin typeface="Nunito"/>
              </a:rPr>
              <a:t>Vector Space </a:t>
            </a:r>
            <a:r>
              <a:rPr lang="en-US" b="0" i="0" dirty="0">
                <a:solidFill>
                  <a:srgbClr val="273239"/>
                </a:solidFill>
                <a:effectLst/>
                <a:latin typeface="Nunito"/>
              </a:rPr>
              <a:t>is a set of vectors. They can be represented as a linear combination of the smaller set of vectors called </a:t>
            </a:r>
            <a:r>
              <a:rPr lang="en-US" b="1" i="0" dirty="0">
                <a:solidFill>
                  <a:srgbClr val="273239"/>
                </a:solidFill>
                <a:effectLst/>
                <a:latin typeface="Nunito"/>
              </a:rPr>
              <a:t>BASIS VECTORS. </a:t>
            </a:r>
          </a:p>
          <a:p>
            <a:endParaRPr lang="en-IN" dirty="0"/>
          </a:p>
        </p:txBody>
      </p:sp>
      <p:pic>
        <p:nvPicPr>
          <p:cNvPr id="5" name="Picture 4">
            <a:extLst>
              <a:ext uri="{FF2B5EF4-FFF2-40B4-BE49-F238E27FC236}">
                <a16:creationId xmlns:a16="http://schemas.microsoft.com/office/drawing/2014/main" id="{98EB5D36-8A37-4417-9627-8C1159F5250E}"/>
              </a:ext>
            </a:extLst>
          </p:cNvPr>
          <p:cNvPicPr>
            <a:picLocks noChangeAspect="1"/>
          </p:cNvPicPr>
          <p:nvPr/>
        </p:nvPicPr>
        <p:blipFill>
          <a:blip r:embed="rId2"/>
          <a:stretch>
            <a:fillRect/>
          </a:stretch>
        </p:blipFill>
        <p:spPr>
          <a:xfrm>
            <a:off x="1095303" y="5114902"/>
            <a:ext cx="1028844" cy="314369"/>
          </a:xfrm>
          <a:prstGeom prst="rect">
            <a:avLst/>
          </a:prstGeom>
        </p:spPr>
      </p:pic>
    </p:spTree>
    <p:extLst>
      <p:ext uri="{BB962C8B-B14F-4D97-AF65-F5344CB8AC3E}">
        <p14:creationId xmlns:p14="http://schemas.microsoft.com/office/powerpoint/2010/main" val="1087119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A1412-C490-49FC-A041-0D463F519D9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0616FD-7D40-4DEF-8FCE-1BF786C95170}"/>
              </a:ext>
            </a:extLst>
          </p:cNvPr>
          <p:cNvSpPr>
            <a:spLocks noGrp="1"/>
          </p:cNvSpPr>
          <p:nvPr>
            <p:ph idx="1"/>
          </p:nvPr>
        </p:nvSpPr>
        <p:spPr/>
        <p:txBody>
          <a:bodyPr>
            <a:normAutofit lnSpcReduction="10000"/>
          </a:bodyPr>
          <a:lstStyle/>
          <a:p>
            <a:r>
              <a:rPr lang="en-US" b="0" i="0" dirty="0">
                <a:solidFill>
                  <a:srgbClr val="273239"/>
                </a:solidFill>
                <a:effectLst/>
                <a:latin typeface="Nunito"/>
              </a:rPr>
              <a:t>where </a:t>
            </a:r>
            <a:r>
              <a:rPr lang="en-US" b="1" i="1" dirty="0">
                <a:solidFill>
                  <a:srgbClr val="273239"/>
                </a:solidFill>
                <a:effectLst/>
                <a:latin typeface="Nunito"/>
              </a:rPr>
              <a:t>a</a:t>
            </a:r>
            <a:r>
              <a:rPr lang="en-US" b="0" i="0" dirty="0">
                <a:solidFill>
                  <a:srgbClr val="273239"/>
                </a:solidFill>
                <a:effectLst/>
                <a:latin typeface="Nunito"/>
              </a:rPr>
              <a:t> represent ‘n’ scalars and u represents the basis vectors. Basis vectors are orthogonal to each other. Orthogonality of vectors can be thought of an extension of the vectors being perpendicular in a 2-D vector space</a:t>
            </a:r>
            <a:r>
              <a:rPr lang="en-US" b="1" i="0" dirty="0">
                <a:solidFill>
                  <a:srgbClr val="273239"/>
                </a:solidFill>
                <a:effectLst/>
                <a:latin typeface="Nunito"/>
              </a:rPr>
              <a:t>. </a:t>
            </a:r>
            <a:r>
              <a:rPr lang="en-US" b="0" i="0" dirty="0">
                <a:solidFill>
                  <a:srgbClr val="273239"/>
                </a:solidFill>
                <a:effectLst/>
                <a:latin typeface="Nunito"/>
              </a:rPr>
              <a:t>So our feature vector (data-set) can be transformed into a set of principal components (just like the basis vectors).</a:t>
            </a:r>
          </a:p>
          <a:p>
            <a:pPr algn="l" rtl="0" fontAlgn="base"/>
            <a:r>
              <a:rPr lang="en-US" b="1" i="0" dirty="0">
                <a:solidFill>
                  <a:srgbClr val="273239"/>
                </a:solidFill>
                <a:effectLst/>
                <a:latin typeface="Nunito"/>
              </a:rPr>
              <a:t>Objectives of PCA:</a:t>
            </a:r>
            <a:endParaRPr lang="en-US" b="0" i="0" dirty="0">
              <a:solidFill>
                <a:srgbClr val="273239"/>
              </a:solidFill>
              <a:effectLst/>
              <a:latin typeface="Nunito"/>
            </a:endParaRPr>
          </a:p>
          <a:p>
            <a:pPr algn="l" fontAlgn="base">
              <a:buFont typeface="+mj-lt"/>
              <a:buAutoNum type="arabicPeriod"/>
            </a:pPr>
            <a:r>
              <a:rPr lang="en-US" b="1" i="0" dirty="0">
                <a:solidFill>
                  <a:srgbClr val="273239"/>
                </a:solidFill>
                <a:effectLst/>
                <a:latin typeface="Nunito"/>
              </a:rPr>
              <a:t> </a:t>
            </a:r>
            <a:r>
              <a:rPr lang="en-US" b="0" i="0" dirty="0">
                <a:solidFill>
                  <a:srgbClr val="273239"/>
                </a:solidFill>
                <a:effectLst/>
                <a:latin typeface="Nunito"/>
              </a:rPr>
              <a:t>The new features are distinct i.e. the covariance between the new features (in case of PCA, they are the principal components) is </a:t>
            </a:r>
            <a:r>
              <a:rPr lang="en-US" b="1" i="0" dirty="0">
                <a:solidFill>
                  <a:srgbClr val="273239"/>
                </a:solidFill>
                <a:effectLst/>
                <a:latin typeface="Nunito"/>
              </a:rPr>
              <a:t>0</a:t>
            </a:r>
            <a:r>
              <a:rPr lang="en-US" b="0" i="0" dirty="0">
                <a:solidFill>
                  <a:srgbClr val="273239"/>
                </a:solidFill>
                <a:effectLst/>
                <a:latin typeface="Nunito"/>
              </a:rPr>
              <a:t>.</a:t>
            </a:r>
          </a:p>
          <a:p>
            <a:pPr algn="l" fontAlgn="base">
              <a:buFont typeface="+mj-lt"/>
              <a:buAutoNum type="arabicPeriod" startAt="2"/>
            </a:pPr>
            <a:r>
              <a:rPr lang="en-US" b="0" i="0" dirty="0">
                <a:solidFill>
                  <a:srgbClr val="273239"/>
                </a:solidFill>
                <a:effectLst/>
                <a:latin typeface="Nunito"/>
              </a:rPr>
              <a:t>The principal components are generated in order of the variability in the data that it captures. Hence, the first principal component should capture the maximum variability, the second one should capture the next highest variability etc.</a:t>
            </a:r>
          </a:p>
          <a:p>
            <a:pPr algn="l" fontAlgn="base">
              <a:buFont typeface="+mj-lt"/>
              <a:buAutoNum type="arabicPeriod" startAt="3"/>
            </a:pPr>
            <a:r>
              <a:rPr lang="en-US" b="0" i="0" dirty="0">
                <a:solidFill>
                  <a:srgbClr val="273239"/>
                </a:solidFill>
                <a:effectLst/>
                <a:latin typeface="Nunito"/>
              </a:rPr>
              <a:t>The sum of the variance of the new features / the principal components should be equal to the sum of the variance of the original features.</a:t>
            </a:r>
          </a:p>
          <a:p>
            <a:endParaRPr lang="en-IN" dirty="0"/>
          </a:p>
        </p:txBody>
      </p:sp>
    </p:spTree>
    <p:extLst>
      <p:ext uri="{BB962C8B-B14F-4D97-AF65-F5344CB8AC3E}">
        <p14:creationId xmlns:p14="http://schemas.microsoft.com/office/powerpoint/2010/main" val="4210040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5917-6D9A-4BC2-A809-AAA3E9C9E9D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C002F4-7284-4DDE-BB4D-EA964112F481}"/>
              </a:ext>
            </a:extLst>
          </p:cNvPr>
          <p:cNvSpPr>
            <a:spLocks noGrp="1"/>
          </p:cNvSpPr>
          <p:nvPr>
            <p:ph idx="1"/>
          </p:nvPr>
        </p:nvSpPr>
        <p:spPr/>
        <p:txBody>
          <a:bodyPr/>
          <a:lstStyle/>
          <a:p>
            <a:pPr algn="l" rtl="0" fontAlgn="base"/>
            <a:r>
              <a:rPr lang="en-US" b="0" i="0" dirty="0">
                <a:solidFill>
                  <a:srgbClr val="273239"/>
                </a:solidFill>
                <a:effectLst/>
                <a:latin typeface="Nunito"/>
              </a:rPr>
              <a:t>PCA works on a process called </a:t>
            </a:r>
            <a:r>
              <a:rPr lang="en-US" b="1" i="0" dirty="0">
                <a:solidFill>
                  <a:srgbClr val="273239"/>
                </a:solidFill>
                <a:effectLst/>
                <a:latin typeface="Nunito"/>
              </a:rPr>
              <a:t>Eigenvalue Decomposition </a:t>
            </a:r>
            <a:r>
              <a:rPr lang="en-US" b="0" i="0" dirty="0">
                <a:solidFill>
                  <a:srgbClr val="273239"/>
                </a:solidFill>
                <a:effectLst/>
                <a:latin typeface="Nunito"/>
              </a:rPr>
              <a:t>of a </a:t>
            </a:r>
            <a:r>
              <a:rPr lang="en-US" b="0" i="0" u="sng" dirty="0">
                <a:solidFill>
                  <a:srgbClr val="273239"/>
                </a:solidFill>
                <a:effectLst/>
                <a:latin typeface="Nunito"/>
                <a:hlinkClick r:id="rId2"/>
              </a:rPr>
              <a:t>covariance matrix</a:t>
            </a:r>
            <a:r>
              <a:rPr lang="en-US" b="0" i="0" dirty="0">
                <a:solidFill>
                  <a:srgbClr val="273239"/>
                </a:solidFill>
                <a:effectLst/>
                <a:latin typeface="Nunito"/>
              </a:rPr>
              <a:t> of a data set. The steps are as follows:</a:t>
            </a:r>
          </a:p>
          <a:p>
            <a:pPr algn="l" fontAlgn="base">
              <a:buFont typeface="Arial" panose="020B0604020202020204" pitchFamily="34" charset="0"/>
              <a:buChar char="•"/>
            </a:pPr>
            <a:r>
              <a:rPr lang="en-US" b="0" i="0" dirty="0">
                <a:solidFill>
                  <a:srgbClr val="273239"/>
                </a:solidFill>
                <a:effectLst/>
                <a:latin typeface="Nunito"/>
              </a:rPr>
              <a:t>First, calculate the covariance matrix of a data set.</a:t>
            </a:r>
          </a:p>
          <a:p>
            <a:pPr algn="l" fontAlgn="base">
              <a:buFont typeface="Arial" panose="020B0604020202020204" pitchFamily="34" charset="0"/>
              <a:buChar char="•"/>
            </a:pPr>
            <a:r>
              <a:rPr lang="en-US" b="0" i="0" dirty="0">
                <a:solidFill>
                  <a:srgbClr val="273239"/>
                </a:solidFill>
                <a:effectLst/>
                <a:latin typeface="Nunito"/>
              </a:rPr>
              <a:t>Then, calculate the eigenvectors of the covariance matrix.</a:t>
            </a:r>
          </a:p>
          <a:p>
            <a:pPr algn="l" fontAlgn="base">
              <a:buFont typeface="Arial" panose="020B0604020202020204" pitchFamily="34" charset="0"/>
              <a:buChar char="•"/>
            </a:pPr>
            <a:r>
              <a:rPr lang="en-US" b="0" i="0" dirty="0">
                <a:solidFill>
                  <a:srgbClr val="273239"/>
                </a:solidFill>
                <a:effectLst/>
                <a:latin typeface="Nunito"/>
              </a:rPr>
              <a:t>The eigenvector having the highest eigenvalue represents the direction in which there is the highest variance. So this will help in identifying the first principal component.</a:t>
            </a:r>
          </a:p>
          <a:p>
            <a:pPr algn="l" fontAlgn="base">
              <a:buFont typeface="Arial" panose="020B0604020202020204" pitchFamily="34" charset="0"/>
              <a:buChar char="•"/>
            </a:pPr>
            <a:r>
              <a:rPr lang="en-US" b="0" i="0" dirty="0">
                <a:solidFill>
                  <a:srgbClr val="273239"/>
                </a:solidFill>
                <a:effectLst/>
                <a:latin typeface="Nunito"/>
              </a:rPr>
              <a:t>The eigenvector having the next highest eigenvalue represents the direction in which data has the highest remaining variance and also orthogonal to the first direction. So, this helps in identifying the second principal component.</a:t>
            </a:r>
          </a:p>
          <a:p>
            <a:pPr algn="l" fontAlgn="base">
              <a:buFont typeface="Arial" panose="020B0604020202020204" pitchFamily="34" charset="0"/>
              <a:buChar char="•"/>
            </a:pPr>
            <a:r>
              <a:rPr lang="en-US" b="0" i="0" dirty="0">
                <a:solidFill>
                  <a:srgbClr val="273239"/>
                </a:solidFill>
                <a:effectLst/>
                <a:latin typeface="Nunito"/>
              </a:rPr>
              <a:t>Like this,</a:t>
            </a:r>
            <a:r>
              <a:rPr lang="en-US" b="1" i="0" dirty="0">
                <a:solidFill>
                  <a:srgbClr val="273239"/>
                </a:solidFill>
                <a:effectLst/>
                <a:latin typeface="Nunito"/>
              </a:rPr>
              <a:t> </a:t>
            </a:r>
            <a:r>
              <a:rPr lang="en-US" b="0" i="0" dirty="0">
                <a:solidFill>
                  <a:srgbClr val="273239"/>
                </a:solidFill>
                <a:effectLst/>
                <a:latin typeface="Nunito"/>
              </a:rPr>
              <a:t>identify the top ‘k’ eigenvectors having top ‘k’ eigenvalues to get the ‘k’ principal components.</a:t>
            </a:r>
          </a:p>
          <a:p>
            <a:endParaRPr lang="en-IN" dirty="0"/>
          </a:p>
        </p:txBody>
      </p:sp>
    </p:spTree>
    <p:extLst>
      <p:ext uri="{BB962C8B-B14F-4D97-AF65-F5344CB8AC3E}">
        <p14:creationId xmlns:p14="http://schemas.microsoft.com/office/powerpoint/2010/main" val="1878209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6656-0AB4-4CE8-A3DC-D65777E8BF3B}"/>
              </a:ext>
            </a:extLst>
          </p:cNvPr>
          <p:cNvSpPr>
            <a:spLocks noGrp="1"/>
          </p:cNvSpPr>
          <p:nvPr>
            <p:ph type="title"/>
          </p:nvPr>
        </p:nvSpPr>
        <p:spPr/>
        <p:txBody>
          <a:bodyPr/>
          <a:lstStyle/>
          <a:p>
            <a:r>
              <a:rPr lang="en-US" b="0" i="0" dirty="0">
                <a:solidFill>
                  <a:srgbClr val="242424"/>
                </a:solidFill>
                <a:effectLst/>
                <a:latin typeface="source-serif-pro"/>
              </a:rPr>
              <a:t>Random Forest is a popular machine learning algorithm for several reasons:</a:t>
            </a:r>
            <a:endParaRPr lang="en-IN" dirty="0"/>
          </a:p>
        </p:txBody>
      </p:sp>
      <p:sp>
        <p:nvSpPr>
          <p:cNvPr id="3" name="Content Placeholder 2">
            <a:extLst>
              <a:ext uri="{FF2B5EF4-FFF2-40B4-BE49-F238E27FC236}">
                <a16:creationId xmlns:a16="http://schemas.microsoft.com/office/drawing/2014/main" id="{F53F8AAD-0752-4CF0-B1F7-75DAE22D3AD7}"/>
              </a:ext>
            </a:extLst>
          </p:cNvPr>
          <p:cNvSpPr>
            <a:spLocks noGrp="1"/>
          </p:cNvSpPr>
          <p:nvPr>
            <p:ph idx="1"/>
          </p:nvPr>
        </p:nvSpPr>
        <p:spPr/>
        <p:txBody>
          <a:bodyPr>
            <a:normAutofit fontScale="92500" lnSpcReduction="10000"/>
          </a:bodyPr>
          <a:lstStyle/>
          <a:p>
            <a:pPr algn="l">
              <a:buFont typeface="+mj-lt"/>
              <a:buAutoNum type="arabicPeriod"/>
            </a:pPr>
            <a:r>
              <a:rPr lang="en-US" b="1" i="0" dirty="0">
                <a:solidFill>
                  <a:srgbClr val="242424"/>
                </a:solidFill>
                <a:effectLst/>
                <a:latin typeface="source-serif-pro"/>
              </a:rPr>
              <a:t>High accuracy:</a:t>
            </a:r>
            <a:r>
              <a:rPr lang="en-US" b="0" i="0" dirty="0">
                <a:solidFill>
                  <a:srgbClr val="242424"/>
                </a:solidFill>
                <a:effectLst/>
                <a:latin typeface="source-serif-pro"/>
              </a:rPr>
              <a:t> Random Forest has been shown to be highly accurate in a wide range of applications, particularly when compared to single decision trees.</a:t>
            </a:r>
          </a:p>
          <a:p>
            <a:pPr algn="l">
              <a:buFont typeface="+mj-lt"/>
              <a:buAutoNum type="arabicPeriod"/>
            </a:pPr>
            <a:r>
              <a:rPr lang="en-US" b="1" i="0" dirty="0">
                <a:solidFill>
                  <a:srgbClr val="242424"/>
                </a:solidFill>
                <a:effectLst/>
                <a:latin typeface="source-serif-pro"/>
              </a:rPr>
              <a:t>Robustness:</a:t>
            </a:r>
            <a:r>
              <a:rPr lang="en-US" b="0" i="0" dirty="0">
                <a:solidFill>
                  <a:srgbClr val="242424"/>
                </a:solidFill>
                <a:effectLst/>
                <a:latin typeface="source-serif-pro"/>
              </a:rPr>
              <a:t> Random Forest is less sensitive to noise and outliers in the data, as it aggregates the predictions of many individual decision trees, rather than relying on a single tree.</a:t>
            </a:r>
          </a:p>
          <a:p>
            <a:pPr algn="l">
              <a:buFont typeface="+mj-lt"/>
              <a:buAutoNum type="arabicPeriod"/>
            </a:pPr>
            <a:r>
              <a:rPr lang="en-US" b="1" i="0" dirty="0">
                <a:solidFill>
                  <a:srgbClr val="242424"/>
                </a:solidFill>
                <a:effectLst/>
                <a:latin typeface="source-serif-pro"/>
              </a:rPr>
              <a:t>Scalability:</a:t>
            </a:r>
            <a:r>
              <a:rPr lang="en-US" b="0" i="0" dirty="0">
                <a:solidFill>
                  <a:srgbClr val="242424"/>
                </a:solidFill>
                <a:effectLst/>
                <a:latin typeface="source-serif-pro"/>
              </a:rPr>
              <a:t> Random Forest can handle large datasets with many features and observations, making it suitable for a wide range of applications.</a:t>
            </a:r>
          </a:p>
          <a:p>
            <a:pPr algn="l">
              <a:buFont typeface="+mj-lt"/>
              <a:buAutoNum type="arabicPeriod"/>
            </a:pPr>
            <a:r>
              <a:rPr lang="en-US" b="1" i="0" dirty="0">
                <a:solidFill>
                  <a:srgbClr val="242424"/>
                </a:solidFill>
                <a:effectLst/>
                <a:latin typeface="source-serif-pro"/>
              </a:rPr>
              <a:t>Interpretability:</a:t>
            </a:r>
            <a:r>
              <a:rPr lang="en-US" b="0" i="0" dirty="0">
                <a:solidFill>
                  <a:srgbClr val="242424"/>
                </a:solidFill>
                <a:effectLst/>
                <a:latin typeface="source-serif-pro"/>
              </a:rPr>
              <a:t> Random Forest provides information on the relative importance of different features in the data, making it easier to interpret and understand the model.</a:t>
            </a:r>
          </a:p>
          <a:p>
            <a:pPr algn="l">
              <a:buFont typeface="+mj-lt"/>
              <a:buAutoNum type="arabicPeriod"/>
            </a:pPr>
            <a:r>
              <a:rPr lang="en-US" b="1" i="0" dirty="0">
                <a:solidFill>
                  <a:srgbClr val="242424"/>
                </a:solidFill>
                <a:effectLst/>
                <a:latin typeface="source-serif-pro"/>
              </a:rPr>
              <a:t>Flexibility:</a:t>
            </a:r>
            <a:r>
              <a:rPr lang="en-US" b="0" i="0" dirty="0">
                <a:solidFill>
                  <a:srgbClr val="242424"/>
                </a:solidFill>
                <a:effectLst/>
                <a:latin typeface="source-serif-pro"/>
              </a:rPr>
              <a:t> Random Forest can be used for both classification and regression tasks, and can handle both categorical and continuous data.</a:t>
            </a:r>
          </a:p>
          <a:p>
            <a:pPr algn="l">
              <a:buFont typeface="+mj-lt"/>
              <a:buAutoNum type="arabicPeriod"/>
            </a:pPr>
            <a:r>
              <a:rPr lang="en-US" b="1" i="0" dirty="0">
                <a:solidFill>
                  <a:srgbClr val="242424"/>
                </a:solidFill>
                <a:effectLst/>
                <a:latin typeface="source-serif-pro"/>
              </a:rPr>
              <a:t>Easy to use:</a:t>
            </a:r>
            <a:r>
              <a:rPr lang="en-US" b="0" i="0" dirty="0">
                <a:solidFill>
                  <a:srgbClr val="242424"/>
                </a:solidFill>
                <a:effectLst/>
                <a:latin typeface="source-serif-pro"/>
              </a:rPr>
              <a:t> Random Forest is relatively easy to implement and does not require much data preprocessing or feature engineering.</a:t>
            </a:r>
          </a:p>
          <a:p>
            <a:endParaRPr lang="en-IN" dirty="0"/>
          </a:p>
        </p:txBody>
      </p:sp>
    </p:spTree>
    <p:extLst>
      <p:ext uri="{BB962C8B-B14F-4D97-AF65-F5344CB8AC3E}">
        <p14:creationId xmlns:p14="http://schemas.microsoft.com/office/powerpoint/2010/main" val="1760912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90423-9F8D-420B-9472-05B5E39959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FE5FEB5-AEAF-4454-8949-435C689FF7CF}"/>
              </a:ext>
            </a:extLst>
          </p:cNvPr>
          <p:cNvSpPr>
            <a:spLocks noGrp="1"/>
          </p:cNvSpPr>
          <p:nvPr>
            <p:ph idx="1"/>
          </p:nvPr>
        </p:nvSpPr>
        <p:spPr/>
        <p:txBody>
          <a:bodyPr/>
          <a:lstStyle/>
          <a:p>
            <a:r>
              <a:rPr lang="en-US" b="0" i="0" dirty="0">
                <a:solidFill>
                  <a:srgbClr val="242424"/>
                </a:solidFill>
                <a:effectLst/>
                <a:latin typeface="source-serif-pro"/>
              </a:rPr>
              <a:t>Overall, Random Forest is a versatile and powerful machine learning algorithm that can be applied to a wide range of applications, making it a popular choice for both academic research and industry applications.</a:t>
            </a:r>
            <a:endParaRPr lang="en-IN" dirty="0"/>
          </a:p>
        </p:txBody>
      </p:sp>
    </p:spTree>
    <p:extLst>
      <p:ext uri="{BB962C8B-B14F-4D97-AF65-F5344CB8AC3E}">
        <p14:creationId xmlns:p14="http://schemas.microsoft.com/office/powerpoint/2010/main" val="1192144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8B70B-78AE-479B-B0F2-E23C485202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65F828D-EBDE-4AB4-A863-80FED44A1A3C}"/>
              </a:ext>
            </a:extLst>
          </p:cNvPr>
          <p:cNvSpPr>
            <a:spLocks noGrp="1"/>
          </p:cNvSpPr>
          <p:nvPr>
            <p:ph idx="1"/>
          </p:nvPr>
        </p:nvSpPr>
        <p:spPr/>
        <p:txBody>
          <a:bodyPr>
            <a:normAutofit lnSpcReduction="10000"/>
          </a:bodyPr>
          <a:lstStyle/>
          <a:p>
            <a:pPr algn="l"/>
            <a:r>
              <a:rPr lang="en-US" b="0" i="0" dirty="0">
                <a:solidFill>
                  <a:srgbClr val="242424"/>
                </a:solidFill>
                <a:effectLst/>
                <a:latin typeface="source-serif-pro"/>
              </a:rPr>
              <a:t>The Random Forest algorithm can be summarized in the following steps:</a:t>
            </a:r>
          </a:p>
          <a:p>
            <a:pPr algn="l">
              <a:buFont typeface="+mj-lt"/>
              <a:buAutoNum type="arabicPeriod"/>
            </a:pPr>
            <a:r>
              <a:rPr lang="en-US" b="0" i="0" dirty="0">
                <a:solidFill>
                  <a:srgbClr val="242424"/>
                </a:solidFill>
                <a:effectLst/>
                <a:latin typeface="source-serif-pro"/>
              </a:rPr>
              <a:t>Select a random sample of the data from the dataset. This is known as a bootstrap sample, and it is used to train a single decision tree.</a:t>
            </a:r>
          </a:p>
          <a:p>
            <a:pPr algn="l">
              <a:buFont typeface="+mj-lt"/>
              <a:buAutoNum type="arabicPeriod"/>
            </a:pPr>
            <a:r>
              <a:rPr lang="en-US" b="0" i="0" dirty="0">
                <a:solidFill>
                  <a:srgbClr val="242424"/>
                </a:solidFill>
                <a:effectLst/>
                <a:latin typeface="source-serif-pro"/>
              </a:rPr>
              <a:t>Randomly select a subset of features from the dataset. The number of features to select is a hyperparameter that can be set by the user.</a:t>
            </a:r>
          </a:p>
          <a:p>
            <a:pPr algn="l">
              <a:buFont typeface="+mj-lt"/>
              <a:buAutoNum type="arabicPeriod"/>
            </a:pPr>
            <a:r>
              <a:rPr lang="en-US" b="0" i="0" dirty="0">
                <a:solidFill>
                  <a:srgbClr val="242424"/>
                </a:solidFill>
                <a:effectLst/>
                <a:latin typeface="source-serif-pro"/>
              </a:rPr>
              <a:t>Use the selected features to train the decision tree on the bootstrap sample.</a:t>
            </a:r>
          </a:p>
          <a:p>
            <a:pPr algn="l">
              <a:buFont typeface="+mj-lt"/>
              <a:buAutoNum type="arabicPeriod"/>
            </a:pPr>
            <a:r>
              <a:rPr lang="en-US" b="0" i="0" dirty="0">
                <a:solidFill>
                  <a:srgbClr val="242424"/>
                </a:solidFill>
                <a:effectLst/>
                <a:latin typeface="source-serif-pro"/>
              </a:rPr>
              <a:t>Repeat steps 1–3 multiple times to create a collection of decision trees, each trained on a different bootstrap sample and subset of features.</a:t>
            </a:r>
          </a:p>
          <a:p>
            <a:pPr algn="l">
              <a:buFont typeface="+mj-lt"/>
              <a:buAutoNum type="arabicPeriod"/>
            </a:pPr>
            <a:r>
              <a:rPr lang="en-US" b="0" i="0" dirty="0">
                <a:solidFill>
                  <a:srgbClr val="242424"/>
                </a:solidFill>
                <a:effectLst/>
                <a:latin typeface="source-serif-pro"/>
              </a:rPr>
              <a:t>To make a prediction for a new data point, pass the data point through all the decision trees in the collection and obtain a prediction from each tree.</a:t>
            </a:r>
          </a:p>
          <a:p>
            <a:pPr algn="l">
              <a:buFont typeface="+mj-lt"/>
              <a:buAutoNum type="arabicPeriod"/>
            </a:pPr>
            <a:r>
              <a:rPr lang="en-US" b="0" i="0" dirty="0">
                <a:solidFill>
                  <a:srgbClr val="242424"/>
                </a:solidFill>
                <a:effectLst/>
                <a:latin typeface="source-serif-pro"/>
              </a:rPr>
              <a:t>For classification tasks, use majority voting to obtain the final prediction. For regression tasks, use averaging to obtain the final prediction.</a:t>
            </a:r>
          </a:p>
          <a:p>
            <a:endParaRPr lang="en-IN" dirty="0"/>
          </a:p>
        </p:txBody>
      </p:sp>
    </p:spTree>
    <p:extLst>
      <p:ext uri="{BB962C8B-B14F-4D97-AF65-F5344CB8AC3E}">
        <p14:creationId xmlns:p14="http://schemas.microsoft.com/office/powerpoint/2010/main" val="3155399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EBBA9-B45D-4646-A11A-809D5364308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C72E927-7C83-47C8-BC34-8A8DABA1CC6A}"/>
              </a:ext>
            </a:extLst>
          </p:cNvPr>
          <p:cNvSpPr>
            <a:spLocks noGrp="1"/>
          </p:cNvSpPr>
          <p:nvPr>
            <p:ph idx="1"/>
          </p:nvPr>
        </p:nvSpPr>
        <p:spPr/>
        <p:txBody>
          <a:bodyPr>
            <a:normAutofit fontScale="85000" lnSpcReduction="20000"/>
          </a:bodyPr>
          <a:lstStyle/>
          <a:p>
            <a:pPr algn="l"/>
            <a:r>
              <a:rPr lang="en-US" b="1" i="0" dirty="0">
                <a:solidFill>
                  <a:srgbClr val="242424"/>
                </a:solidFill>
                <a:effectLst/>
                <a:latin typeface="sohne"/>
              </a:rPr>
              <a:t>Applications of Random Forest</a:t>
            </a:r>
          </a:p>
          <a:p>
            <a:pPr algn="l"/>
            <a:r>
              <a:rPr lang="en-US" b="0" i="0" dirty="0">
                <a:solidFill>
                  <a:srgbClr val="242424"/>
                </a:solidFill>
                <a:effectLst/>
                <a:latin typeface="source-serif-pro"/>
              </a:rPr>
              <a:t>Random Forest algorithm has been applied to a wide range of applications in various fields, including:</a:t>
            </a:r>
          </a:p>
          <a:p>
            <a:pPr algn="l">
              <a:buFont typeface="+mj-lt"/>
              <a:buAutoNum type="arabicPeriod"/>
            </a:pPr>
            <a:r>
              <a:rPr lang="en-US" b="1" i="0" dirty="0">
                <a:solidFill>
                  <a:srgbClr val="242424"/>
                </a:solidFill>
                <a:effectLst/>
                <a:latin typeface="source-serif-pro"/>
              </a:rPr>
              <a:t>Image Classification:</a:t>
            </a:r>
            <a:r>
              <a:rPr lang="en-US" b="0" i="0" dirty="0">
                <a:solidFill>
                  <a:srgbClr val="242424"/>
                </a:solidFill>
                <a:effectLst/>
                <a:latin typeface="source-serif-pro"/>
              </a:rPr>
              <a:t> Random Forest has been used for image classification tasks, such as recognizing handwritten digits and identifying objects in images.</a:t>
            </a:r>
          </a:p>
          <a:p>
            <a:pPr algn="l">
              <a:buFont typeface="+mj-lt"/>
              <a:buAutoNum type="arabicPeriod"/>
            </a:pPr>
            <a:r>
              <a:rPr lang="en-US" b="1" i="0" dirty="0">
                <a:solidFill>
                  <a:srgbClr val="242424"/>
                </a:solidFill>
                <a:effectLst/>
                <a:latin typeface="source-serif-pro"/>
              </a:rPr>
              <a:t>Fraud Detection:</a:t>
            </a:r>
            <a:r>
              <a:rPr lang="en-US" b="0" i="0" dirty="0">
                <a:solidFill>
                  <a:srgbClr val="242424"/>
                </a:solidFill>
                <a:effectLst/>
                <a:latin typeface="source-serif-pro"/>
              </a:rPr>
              <a:t> Random Forest can be used to identify fraudulent transactions in banking and finance.</a:t>
            </a:r>
          </a:p>
          <a:p>
            <a:pPr algn="l">
              <a:buFont typeface="+mj-lt"/>
              <a:buAutoNum type="arabicPeriod"/>
            </a:pPr>
            <a:r>
              <a:rPr lang="en-US" b="1" i="0" dirty="0">
                <a:solidFill>
                  <a:srgbClr val="242424"/>
                </a:solidFill>
                <a:effectLst/>
                <a:latin typeface="source-serif-pro"/>
              </a:rPr>
              <a:t>Medical Diagnosis:</a:t>
            </a:r>
            <a:r>
              <a:rPr lang="en-US" b="0" i="0" dirty="0">
                <a:solidFill>
                  <a:srgbClr val="242424"/>
                </a:solidFill>
                <a:effectLst/>
                <a:latin typeface="source-serif-pro"/>
              </a:rPr>
              <a:t> Random Forest has been used to diagnose various medical conditions, such as predicting the risk of heart disease and detecting breast cancer.</a:t>
            </a:r>
          </a:p>
          <a:p>
            <a:pPr algn="l">
              <a:buFont typeface="+mj-lt"/>
              <a:buAutoNum type="arabicPeriod"/>
            </a:pPr>
            <a:r>
              <a:rPr lang="en-US" b="1" i="0" dirty="0">
                <a:solidFill>
                  <a:srgbClr val="242424"/>
                </a:solidFill>
                <a:effectLst/>
                <a:latin typeface="source-serif-pro"/>
              </a:rPr>
              <a:t>Natural Language Processing:</a:t>
            </a:r>
            <a:r>
              <a:rPr lang="en-US" b="0" i="0" dirty="0">
                <a:solidFill>
                  <a:srgbClr val="242424"/>
                </a:solidFill>
                <a:effectLst/>
                <a:latin typeface="source-serif-pro"/>
              </a:rPr>
              <a:t> Random Forest can be used for various NLP tasks, such as sentiment analysis, text classification, and language modeling.</a:t>
            </a:r>
          </a:p>
          <a:p>
            <a:pPr algn="l">
              <a:buFont typeface="+mj-lt"/>
              <a:buAutoNum type="arabicPeriod"/>
            </a:pPr>
            <a:r>
              <a:rPr lang="en-US" b="1" i="0" dirty="0">
                <a:solidFill>
                  <a:srgbClr val="242424"/>
                </a:solidFill>
                <a:effectLst/>
                <a:latin typeface="source-serif-pro"/>
              </a:rPr>
              <a:t>Recommendation Systems:</a:t>
            </a:r>
            <a:r>
              <a:rPr lang="en-US" b="0" i="0" dirty="0">
                <a:solidFill>
                  <a:srgbClr val="242424"/>
                </a:solidFill>
                <a:effectLst/>
                <a:latin typeface="source-serif-pro"/>
              </a:rPr>
              <a:t> Random Forest has been used to build recommendation systems, such as predicting user preferences for movies, music, or products.</a:t>
            </a:r>
          </a:p>
          <a:p>
            <a:pPr algn="l">
              <a:buFont typeface="+mj-lt"/>
              <a:buAutoNum type="arabicPeriod"/>
            </a:pPr>
            <a:r>
              <a:rPr lang="en-US" b="1" i="0" dirty="0">
                <a:solidFill>
                  <a:srgbClr val="242424"/>
                </a:solidFill>
                <a:effectLst/>
                <a:latin typeface="source-serif-pro"/>
              </a:rPr>
              <a:t>Financial Modeling:</a:t>
            </a:r>
            <a:r>
              <a:rPr lang="en-US" b="0" i="0" dirty="0">
                <a:solidFill>
                  <a:srgbClr val="242424"/>
                </a:solidFill>
                <a:effectLst/>
                <a:latin typeface="source-serif-pro"/>
              </a:rPr>
              <a:t> Random forests can be used for financial modeling tasks, such as predicting stock prices or identifying investment opportunities.</a:t>
            </a:r>
          </a:p>
          <a:p>
            <a:pPr algn="l">
              <a:buFont typeface="+mj-lt"/>
              <a:buAutoNum type="arabicPeriod"/>
            </a:pPr>
            <a:r>
              <a:rPr lang="en-US" b="1" i="0" dirty="0">
                <a:solidFill>
                  <a:srgbClr val="242424"/>
                </a:solidFill>
                <a:effectLst/>
                <a:latin typeface="source-serif-pro"/>
              </a:rPr>
              <a:t>Environmental Monitoring:</a:t>
            </a:r>
            <a:r>
              <a:rPr lang="en-US" b="0" i="0" dirty="0">
                <a:solidFill>
                  <a:srgbClr val="242424"/>
                </a:solidFill>
                <a:effectLst/>
                <a:latin typeface="source-serif-pro"/>
              </a:rPr>
              <a:t> Random Forest has been used to analyze environmental data, such as predicting the occurrence of wildfires or detecting changes in land use.</a:t>
            </a:r>
          </a:p>
          <a:p>
            <a:endParaRPr lang="en-IN" dirty="0"/>
          </a:p>
        </p:txBody>
      </p:sp>
    </p:spTree>
    <p:extLst>
      <p:ext uri="{BB962C8B-B14F-4D97-AF65-F5344CB8AC3E}">
        <p14:creationId xmlns:p14="http://schemas.microsoft.com/office/powerpoint/2010/main" val="27753122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0C61E-5BFA-4216-ABC9-0BDF96E72DCD}"/>
              </a:ext>
            </a:extLst>
          </p:cNvPr>
          <p:cNvSpPr>
            <a:spLocks noGrp="1"/>
          </p:cNvSpPr>
          <p:nvPr>
            <p:ph type="title"/>
          </p:nvPr>
        </p:nvSpPr>
        <p:spPr/>
        <p:txBody>
          <a:bodyPr/>
          <a:lstStyle/>
          <a:p>
            <a:r>
              <a:rPr lang="en-US" dirty="0"/>
              <a:t>Outputs:</a:t>
            </a:r>
            <a:endParaRPr lang="en-IN" dirty="0"/>
          </a:p>
        </p:txBody>
      </p:sp>
      <p:pic>
        <p:nvPicPr>
          <p:cNvPr id="19" name="Content Placeholder 18">
            <a:extLst>
              <a:ext uri="{FF2B5EF4-FFF2-40B4-BE49-F238E27FC236}">
                <a16:creationId xmlns:a16="http://schemas.microsoft.com/office/drawing/2014/main" id="{DB5E7768-C2A4-4FE1-A292-F89BE8B4AB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3050" y="2160588"/>
            <a:ext cx="7129463" cy="3881437"/>
          </a:xfrm>
        </p:spPr>
      </p:pic>
    </p:spTree>
    <p:extLst>
      <p:ext uri="{BB962C8B-B14F-4D97-AF65-F5344CB8AC3E}">
        <p14:creationId xmlns:p14="http://schemas.microsoft.com/office/powerpoint/2010/main" val="3689586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41D46-9508-4979-A1DD-3B9D12BBF3D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E4999C3-713F-4C8F-BDF0-571CE4BA74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4500" y="2160588"/>
            <a:ext cx="5202237" cy="3881437"/>
          </a:xfrm>
        </p:spPr>
      </p:pic>
    </p:spTree>
    <p:extLst>
      <p:ext uri="{BB962C8B-B14F-4D97-AF65-F5344CB8AC3E}">
        <p14:creationId xmlns:p14="http://schemas.microsoft.com/office/powerpoint/2010/main" val="32409115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35E69-746E-4C37-9634-A68AF3A9AB8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25FD741-9047-475A-8A68-6C46DCC6E9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250" y="2160588"/>
            <a:ext cx="4916487" cy="3881437"/>
          </a:xfrm>
        </p:spPr>
      </p:pic>
    </p:spTree>
    <p:extLst>
      <p:ext uri="{BB962C8B-B14F-4D97-AF65-F5344CB8AC3E}">
        <p14:creationId xmlns:p14="http://schemas.microsoft.com/office/powerpoint/2010/main" val="594524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3A857-0D35-411D-8C23-E6B70147806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6C98D3C-76ED-465E-BE5E-2CB62F3902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0264" y="2160588"/>
            <a:ext cx="4816474" cy="3881437"/>
          </a:xfrm>
        </p:spPr>
      </p:pic>
    </p:spTree>
    <p:extLst>
      <p:ext uri="{BB962C8B-B14F-4D97-AF65-F5344CB8AC3E}">
        <p14:creationId xmlns:p14="http://schemas.microsoft.com/office/powerpoint/2010/main" val="3321994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9496F-38BB-4CD3-AD9D-12C41828E7E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CB8D991-61A7-4DC8-A4AF-2B6F524666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1650" y="2160588"/>
            <a:ext cx="5145087" cy="3881437"/>
          </a:xfrm>
        </p:spPr>
      </p:pic>
    </p:spTree>
    <p:extLst>
      <p:ext uri="{BB962C8B-B14F-4D97-AF65-F5344CB8AC3E}">
        <p14:creationId xmlns:p14="http://schemas.microsoft.com/office/powerpoint/2010/main" val="1622031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1FEBA-5018-48FB-B1A2-2908B867DF5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E35412C-FEA1-4A9F-97C6-B2ED27A7BE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2160588"/>
            <a:ext cx="4859337" cy="3881437"/>
          </a:xfrm>
        </p:spPr>
      </p:pic>
    </p:spTree>
    <p:extLst>
      <p:ext uri="{BB962C8B-B14F-4D97-AF65-F5344CB8AC3E}">
        <p14:creationId xmlns:p14="http://schemas.microsoft.com/office/powerpoint/2010/main" val="4278168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5B31-9AC8-4369-B371-9BE5C7A9EAA8}"/>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98488AB5-9192-4011-9A70-8D33EBA12970}"/>
              </a:ext>
            </a:extLst>
          </p:cNvPr>
          <p:cNvSpPr>
            <a:spLocks noGrp="1"/>
          </p:cNvSpPr>
          <p:nvPr>
            <p:ph idx="1"/>
          </p:nvPr>
        </p:nvSpPr>
        <p:spPr/>
        <p:txBody>
          <a:bodyPr>
            <a:normAutofit lnSpcReduction="10000"/>
          </a:bodyPr>
          <a:lstStyle/>
          <a:p>
            <a:pPr algn="just"/>
            <a:r>
              <a:rPr lang="en-US" sz="1800" dirty="0">
                <a:effectLst/>
                <a:latin typeface="Calibri" panose="020F0502020204030204" pitchFamily="34" charset="0"/>
                <a:ea typeface="Times New Roman" panose="02020603050405020304" pitchFamily="18" charset="0"/>
                <a:cs typeface="Times New Roman" panose="02020603050405020304" pitchFamily="18" charset="0"/>
              </a:rPr>
              <a:t>The pursuit of effective fraud detection in insurance claims has been significantly enhanced by the integration of machine learning methodologies. Through this research, a profound exploration into the application of diverse machine learning models for fraud identification in insurance claims has been undertaken, yielding several pivotal insights and implications. The findings underscore the capability of machine learning models to discern fraudulent activities amidst complex and diverse insurance claim datasets. Various models exhibited substantial performance, as evidenced by robust metrics such as accuracy, precision, recall, F1-score, and Accuracy The identification of influential features elucidated crucial patterns and attributes crucial for distinguishing fraudulent from legitimate claims, augmenting the interpretability of model decisions. However, amidst the accomplishments, challenges emerged. The intricacies of handling imbalanced datasets, the delicate balance between model complexity and interpretability, and ethical considerations regarding fairness and privacy necessitate continued attention and refinement in future endeavors.</a:t>
            </a:r>
            <a:endParaRPr lang="en-IN" dirty="0"/>
          </a:p>
        </p:txBody>
      </p:sp>
    </p:spTree>
    <p:extLst>
      <p:ext uri="{BB962C8B-B14F-4D97-AF65-F5344CB8AC3E}">
        <p14:creationId xmlns:p14="http://schemas.microsoft.com/office/powerpoint/2010/main" val="4069697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A75B1-B8DD-4047-AA29-0B9A7F238E7C}"/>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DA3E3F75-E2BE-44B6-8F84-81E9ADF292FB}"/>
              </a:ext>
            </a:extLst>
          </p:cNvPr>
          <p:cNvSpPr>
            <a:spLocks noGrp="1"/>
          </p:cNvSpPr>
          <p:nvPr>
            <p:ph idx="1"/>
          </p:nvPr>
        </p:nvSpPr>
        <p:spPr/>
        <p:txBody>
          <a:bodyPr>
            <a:normAutofit fontScale="77500" lnSpcReduction="20000"/>
          </a:bodyPr>
          <a:lstStyle/>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 Insurance Claim Analysis Using Machine Learning Algorithms” – Rama Devi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Burri</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et all, IJITEE 2019 </a:t>
            </a:r>
            <a:r>
              <a:rPr lang="en-US" sz="1800" u="sng" dirty="0">
                <a:solidFill>
                  <a:srgbClr val="0000FF"/>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https://www.ijitee.org/wpcontent/uploads/papers/v8i6s 4/F11180486S419.pdf</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[2]” A Survey Paper on Fraud Detection and Frequent Pattern Matching in Insurance claims using Data Mining Techniques”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Pinak</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Patel et all, IRJET 2019 https://www.irjet.net/archives/V6/i1/IRJET-V6I1104.pdf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[3]” Management of Fraud: Case of an Indian Insurance Company” – Sunita Mall et all, Accounting and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Finace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Research 2018 http://www.sciedu.ca/journal/index.php/%20afr/article /download/13474/8333 [4]” Extreme Gradient Boosting Machine Learning Algorithm for Safe Auto Insurance operations”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Najmeddine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Dhieb</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et all, LCVES 2019 https://www.researchgate.net/publication/337508754_E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xtreme_Gradient_Boosting_Machine_Learning_Algorithm_F</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or_Safe_Auto_Insurance_Operations</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[5]” An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Based System for Financial Fraud Detection”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Shimin</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Lei, et all, E3S Web of Conferences 2020 https://www.e3sconferences.org/articles/e3sconf/pdf/2 020/74/e3sconf_ebldm2020_02042.pdf</a:t>
            </a:r>
            <a:endParaRPr lang="en-IN"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7437910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TotalTime>
  <Words>2372</Words>
  <Application>Microsoft Office PowerPoint</Application>
  <PresentationFormat>Widescreen</PresentationFormat>
  <Paragraphs>93</Paragraphs>
  <Slides>26</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26</vt:i4>
      </vt:variant>
    </vt:vector>
  </HeadingPairs>
  <TitlesOfParts>
    <vt:vector size="37" baseType="lpstr">
      <vt:lpstr>MS Gothic</vt:lpstr>
      <vt:lpstr>Arial</vt:lpstr>
      <vt:lpstr>Calibri</vt:lpstr>
      <vt:lpstr>Nunito</vt:lpstr>
      <vt:lpstr>sohne</vt:lpstr>
      <vt:lpstr>source-serif-pro</vt:lpstr>
      <vt:lpstr>Symbol</vt:lpstr>
      <vt:lpstr>Times New Roman</vt:lpstr>
      <vt:lpstr>Trebuchet MS</vt:lpstr>
      <vt:lpstr>Wingdings 3</vt:lpstr>
      <vt:lpstr>Facet</vt:lpstr>
      <vt:lpstr>PCA based feature selection model to predict the insurance fraud detection </vt:lpstr>
      <vt:lpstr>Abstract</vt:lpstr>
      <vt:lpstr>Proposed System: </vt:lpstr>
      <vt:lpstr>Implementation: </vt:lpstr>
      <vt:lpstr>PowerPoint Presentation</vt:lpstr>
      <vt:lpstr>PowerPoint Presentation</vt:lpstr>
      <vt:lpstr>PowerPoint Presentation</vt:lpstr>
      <vt:lpstr>PowerPoint Presentation</vt:lpstr>
      <vt:lpstr>Literature Survey: </vt:lpstr>
      <vt:lpstr>PowerPoint Presentation</vt:lpstr>
      <vt:lpstr>Requirements</vt:lpstr>
      <vt:lpstr>PCA</vt:lpstr>
      <vt:lpstr>PowerPoint Presentation</vt:lpstr>
      <vt:lpstr>PowerPoint Presentation</vt:lpstr>
      <vt:lpstr>Random Forest is a popular machine learning algorithm for several reasons:</vt:lpstr>
      <vt:lpstr>PowerPoint Presentation</vt:lpstr>
      <vt:lpstr>PowerPoint Presentation</vt:lpstr>
      <vt:lpstr>PowerPoint Presentation</vt:lpstr>
      <vt:lpstr>Outputs:</vt:lpstr>
      <vt:lpstr>PowerPoint Presentation</vt:lpstr>
      <vt:lpstr>PowerPoint Presentation</vt:lpstr>
      <vt:lpstr>PowerPoint Presentation</vt:lpstr>
      <vt:lpstr>PowerPoint Presentation</vt:lpstr>
      <vt:lpstr>PowerPoint Presentation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PCA based feature selection model to predict the insurance fraud detection </dc:title>
  <dc:creator>pc</dc:creator>
  <cp:lastModifiedBy>pc</cp:lastModifiedBy>
  <cp:revision>42</cp:revision>
  <dcterms:created xsi:type="dcterms:W3CDTF">2024-10-28T04:50:41Z</dcterms:created>
  <dcterms:modified xsi:type="dcterms:W3CDTF">2024-10-28T05:08:36Z</dcterms:modified>
</cp:coreProperties>
</file>